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2A5400"/>
    <a:srgbClr val="193200"/>
    <a:srgbClr val="336600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 varScale="1">
        <p:scale>
          <a:sx n="95" d="100"/>
          <a:sy n="95" d="100"/>
        </p:scale>
        <p:origin x="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89A93-69E8-491D-95B1-6B0CA8BD90BE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DCCA-6C12-4923-A335-BDC3B42935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6707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89A93-69E8-491D-95B1-6B0CA8BD90BE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DCCA-6C12-4923-A335-BDC3B42935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469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89A93-69E8-491D-95B1-6B0CA8BD90BE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DCCA-6C12-4923-A335-BDC3B42935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459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89A93-69E8-491D-95B1-6B0CA8BD90BE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DCCA-6C12-4923-A335-BDC3B42935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300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89A93-69E8-491D-95B1-6B0CA8BD90BE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DCCA-6C12-4923-A335-BDC3B42935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5531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89A93-69E8-491D-95B1-6B0CA8BD90BE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DCCA-6C12-4923-A335-BDC3B42935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0262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89A93-69E8-491D-95B1-6B0CA8BD90BE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DCCA-6C12-4923-A335-BDC3B42935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0863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89A93-69E8-491D-95B1-6B0CA8BD90BE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DCCA-6C12-4923-A335-BDC3B42935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0632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89A93-69E8-491D-95B1-6B0CA8BD90BE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DCCA-6C12-4923-A335-BDC3B42935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751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89A93-69E8-491D-95B1-6B0CA8BD90BE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DCCA-6C12-4923-A335-BDC3B42935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1893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C89A93-69E8-491D-95B1-6B0CA8BD90BE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4DCCA-6C12-4923-A335-BDC3B42935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1943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C89A93-69E8-491D-95B1-6B0CA8BD90BE}" type="datetimeFigureOut">
              <a:rPr lang="fr-FR" smtClean="0"/>
              <a:t>15/01/2026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4DCCA-6C12-4923-A335-BDC3B42935D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7042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32">
            <a:extLst>
              <a:ext uri="{FF2B5EF4-FFF2-40B4-BE49-F238E27FC236}">
                <a16:creationId xmlns:a16="http://schemas.microsoft.com/office/drawing/2014/main" id="{1A1F7232-E85F-4F45-8A93-EA33A2EA50D6}"/>
              </a:ext>
            </a:extLst>
          </p:cNvPr>
          <p:cNvSpPr/>
          <p:nvPr/>
        </p:nvSpPr>
        <p:spPr>
          <a:xfrm>
            <a:off x="3679024" y="827877"/>
            <a:ext cx="7285755" cy="535837"/>
          </a:xfrm>
          <a:prstGeom prst="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2" name="Forme libre : forme 131">
            <a:extLst>
              <a:ext uri="{FF2B5EF4-FFF2-40B4-BE49-F238E27FC236}">
                <a16:creationId xmlns:a16="http://schemas.microsoft.com/office/drawing/2014/main" id="{67602499-390C-4A1A-BAC1-13F28F56FB00}"/>
              </a:ext>
            </a:extLst>
          </p:cNvPr>
          <p:cNvSpPr/>
          <p:nvPr/>
        </p:nvSpPr>
        <p:spPr>
          <a:xfrm>
            <a:off x="1604211" y="2117555"/>
            <a:ext cx="10539663" cy="3080084"/>
          </a:xfrm>
          <a:custGeom>
            <a:avLst/>
            <a:gdLst>
              <a:gd name="connsiteX0" fmla="*/ 352926 w 10539663"/>
              <a:gd name="connsiteY0" fmla="*/ 264695 h 3080084"/>
              <a:gd name="connsiteX1" fmla="*/ 0 w 10539663"/>
              <a:gd name="connsiteY1" fmla="*/ 1748590 h 3080084"/>
              <a:gd name="connsiteX2" fmla="*/ 360947 w 10539663"/>
              <a:gd name="connsiteY2" fmla="*/ 2791326 h 3080084"/>
              <a:gd name="connsiteX3" fmla="*/ 8614610 w 10539663"/>
              <a:gd name="connsiteY3" fmla="*/ 2919663 h 3080084"/>
              <a:gd name="connsiteX4" fmla="*/ 8999621 w 10539663"/>
              <a:gd name="connsiteY4" fmla="*/ 3072063 h 3080084"/>
              <a:gd name="connsiteX5" fmla="*/ 10483515 w 10539663"/>
              <a:gd name="connsiteY5" fmla="*/ 3080084 h 3080084"/>
              <a:gd name="connsiteX6" fmla="*/ 10539663 w 10539663"/>
              <a:gd name="connsiteY6" fmla="*/ 24063 h 3080084"/>
              <a:gd name="connsiteX7" fmla="*/ 874294 w 10539663"/>
              <a:gd name="connsiteY7" fmla="*/ 0 h 3080084"/>
              <a:gd name="connsiteX8" fmla="*/ 352926 w 10539663"/>
              <a:gd name="connsiteY8" fmla="*/ 264695 h 3080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539663" h="3080084">
                <a:moveTo>
                  <a:pt x="352926" y="264695"/>
                </a:moveTo>
                <a:lnTo>
                  <a:pt x="0" y="1748590"/>
                </a:lnTo>
                <a:lnTo>
                  <a:pt x="360947" y="2791326"/>
                </a:lnTo>
                <a:lnTo>
                  <a:pt x="8614610" y="2919663"/>
                </a:lnTo>
                <a:lnTo>
                  <a:pt x="8999621" y="3072063"/>
                </a:lnTo>
                <a:lnTo>
                  <a:pt x="10483515" y="3080084"/>
                </a:lnTo>
                <a:lnTo>
                  <a:pt x="10539663" y="24063"/>
                </a:lnTo>
                <a:lnTo>
                  <a:pt x="874294" y="0"/>
                </a:lnTo>
                <a:lnTo>
                  <a:pt x="352926" y="264695"/>
                </a:lnTo>
                <a:close/>
              </a:path>
            </a:pathLst>
          </a:cu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3179165" y="1506301"/>
            <a:ext cx="2662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7030A0"/>
                </a:solidFill>
              </a:rPr>
              <a:t>14/16 Catégories d’impact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6130005" y="1495129"/>
            <a:ext cx="2392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7030A0"/>
                </a:solidFill>
              </a:rPr>
              <a:t>Compléments hors ACV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2453008" y="4338068"/>
            <a:ext cx="16294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rgbClr val="2A5400"/>
                </a:solidFill>
              </a:rPr>
              <a:t>Paramètre</a:t>
            </a:r>
            <a:r>
              <a:rPr lang="fr-FR" dirty="0">
                <a:solidFill>
                  <a:srgbClr val="2A5400"/>
                </a:solidFill>
              </a:rPr>
              <a:t> n1.1</a:t>
            </a:r>
          </a:p>
          <a:p>
            <a:r>
              <a:rPr lang="fr-FR" sz="1200" dirty="0">
                <a:solidFill>
                  <a:srgbClr val="2A5400"/>
                </a:solidFill>
              </a:rPr>
              <a:t>Ex. Recette</a:t>
            </a:r>
          </a:p>
          <a:p>
            <a:endParaRPr lang="fr-FR" sz="1200" dirty="0">
              <a:solidFill>
                <a:srgbClr val="2A54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6317810" y="4375035"/>
            <a:ext cx="16294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rgbClr val="2A5400"/>
                </a:solidFill>
              </a:rPr>
              <a:t>Paramètre</a:t>
            </a:r>
            <a:r>
              <a:rPr lang="fr-FR" dirty="0">
                <a:solidFill>
                  <a:srgbClr val="2A5400"/>
                </a:solidFill>
              </a:rPr>
              <a:t> n1.3</a:t>
            </a:r>
          </a:p>
          <a:p>
            <a:pPr lvl="0"/>
            <a:r>
              <a:rPr lang="fr-FR" sz="1200" dirty="0">
                <a:solidFill>
                  <a:srgbClr val="2A5400"/>
                </a:solidFill>
              </a:rPr>
              <a:t>Ex. Origine des </a:t>
            </a:r>
            <a:r>
              <a:rPr lang="fr-FR" sz="1200" dirty="0" err="1">
                <a:solidFill>
                  <a:srgbClr val="2A5400"/>
                </a:solidFill>
              </a:rPr>
              <a:t>ing</a:t>
            </a:r>
            <a:r>
              <a:rPr lang="fr-FR" sz="1200" dirty="0">
                <a:solidFill>
                  <a:srgbClr val="2A5400"/>
                </a:solidFill>
              </a:rPr>
              <a:t>.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4433137" y="4346938"/>
            <a:ext cx="16294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rgbClr val="2A5400"/>
                </a:solidFill>
              </a:rPr>
              <a:t>Paramètre</a:t>
            </a:r>
            <a:r>
              <a:rPr lang="fr-FR" dirty="0">
                <a:solidFill>
                  <a:srgbClr val="2A5400"/>
                </a:solidFill>
              </a:rPr>
              <a:t> n1.2</a:t>
            </a:r>
          </a:p>
          <a:p>
            <a:pPr lvl="0"/>
            <a:r>
              <a:rPr lang="fr-FR" sz="1200" dirty="0">
                <a:solidFill>
                  <a:srgbClr val="2A5400"/>
                </a:solidFill>
              </a:rPr>
              <a:t>Ex. Label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9207707" y="1465850"/>
            <a:ext cx="1856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7030A0"/>
                </a:solidFill>
              </a:rPr>
              <a:t>Coef de durabilité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11848636" y="145643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…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8285705" y="4394581"/>
            <a:ext cx="16294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>
                <a:solidFill>
                  <a:srgbClr val="2A5400"/>
                </a:solidFill>
              </a:rPr>
              <a:t>Paramètre</a:t>
            </a:r>
            <a:r>
              <a:rPr lang="fr-FR" dirty="0">
                <a:solidFill>
                  <a:srgbClr val="2A5400"/>
                </a:solidFill>
              </a:rPr>
              <a:t> n1.4</a:t>
            </a:r>
          </a:p>
          <a:p>
            <a:pPr lvl="0"/>
            <a:r>
              <a:rPr lang="fr-FR" sz="1200" dirty="0">
                <a:solidFill>
                  <a:srgbClr val="2A5400"/>
                </a:solidFill>
              </a:rPr>
              <a:t>Ex. Emballage</a:t>
            </a:r>
          </a:p>
        </p:txBody>
      </p:sp>
      <p:cxnSp>
        <p:nvCxnSpPr>
          <p:cNvPr id="25" name="Connecteur droit avec flèche 24"/>
          <p:cNvCxnSpPr>
            <a:cxnSpLocks/>
            <a:stCxn id="12" idx="0"/>
            <a:endCxn id="26" idx="3"/>
          </p:cNvCxnSpPr>
          <p:nvPr/>
        </p:nvCxnSpPr>
        <p:spPr>
          <a:xfrm flipV="1">
            <a:off x="5247880" y="3475929"/>
            <a:ext cx="271029" cy="8710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eur droit avec flèche 45"/>
          <p:cNvCxnSpPr>
            <a:cxnSpLocks/>
            <a:stCxn id="9" idx="0"/>
            <a:endCxn id="26" idx="3"/>
          </p:cNvCxnSpPr>
          <p:nvPr/>
        </p:nvCxnSpPr>
        <p:spPr>
          <a:xfrm flipV="1">
            <a:off x="3267751" y="3475929"/>
            <a:ext cx="2251158" cy="8621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64DFF5FA-6970-4460-A37F-4C2C6D44FEAD}"/>
              </a:ext>
            </a:extLst>
          </p:cNvPr>
          <p:cNvSpPr txBox="1"/>
          <p:nvPr/>
        </p:nvSpPr>
        <p:spPr>
          <a:xfrm>
            <a:off x="9566043" y="3067826"/>
            <a:ext cx="2303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990000"/>
                </a:solidFill>
              </a:rPr>
              <a:t>Hypothèses transports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5C259FE5-BBFA-41B0-BC28-F073FE0EED29}"/>
              </a:ext>
            </a:extLst>
          </p:cNvPr>
          <p:cNvSpPr txBox="1"/>
          <p:nvPr/>
        </p:nvSpPr>
        <p:spPr>
          <a:xfrm>
            <a:off x="6223975" y="334925"/>
            <a:ext cx="23238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fr-FR" b="1" dirty="0">
                <a:solidFill>
                  <a:srgbClr val="7030A0"/>
                </a:solidFill>
              </a:rPr>
              <a:t>Coût environnemental</a:t>
            </a:r>
          </a:p>
        </p:txBody>
      </p: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E334434C-3A65-4736-A1A1-A0A0F64F5ADC}"/>
              </a:ext>
            </a:extLst>
          </p:cNvPr>
          <p:cNvCxnSpPr>
            <a:cxnSpLocks/>
            <a:stCxn id="7" idx="0"/>
            <a:endCxn id="37" idx="2"/>
          </p:cNvCxnSpPr>
          <p:nvPr/>
        </p:nvCxnSpPr>
        <p:spPr>
          <a:xfrm flipV="1">
            <a:off x="4510363" y="704257"/>
            <a:ext cx="2875533" cy="802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>
            <a:extLst>
              <a:ext uri="{FF2B5EF4-FFF2-40B4-BE49-F238E27FC236}">
                <a16:creationId xmlns:a16="http://schemas.microsoft.com/office/drawing/2014/main" id="{6E08299F-304D-49E4-BF58-65D8E09D31DC}"/>
              </a:ext>
            </a:extLst>
          </p:cNvPr>
          <p:cNvCxnSpPr>
            <a:cxnSpLocks/>
            <a:stCxn id="8" idx="0"/>
            <a:endCxn id="37" idx="2"/>
          </p:cNvCxnSpPr>
          <p:nvPr/>
        </p:nvCxnSpPr>
        <p:spPr>
          <a:xfrm flipV="1">
            <a:off x="7326134" y="704257"/>
            <a:ext cx="59762" cy="790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>
            <a:extLst>
              <a:ext uri="{FF2B5EF4-FFF2-40B4-BE49-F238E27FC236}">
                <a16:creationId xmlns:a16="http://schemas.microsoft.com/office/drawing/2014/main" id="{3C6D48A8-D12C-4979-A03B-2DC40271DFCC}"/>
              </a:ext>
            </a:extLst>
          </p:cNvPr>
          <p:cNvCxnSpPr>
            <a:cxnSpLocks/>
            <a:stCxn id="14" idx="0"/>
            <a:endCxn id="37" idx="2"/>
          </p:cNvCxnSpPr>
          <p:nvPr/>
        </p:nvCxnSpPr>
        <p:spPr>
          <a:xfrm flipH="1" flipV="1">
            <a:off x="7385896" y="704257"/>
            <a:ext cx="2750271" cy="761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>
            <a:extLst>
              <a:ext uri="{FF2B5EF4-FFF2-40B4-BE49-F238E27FC236}">
                <a16:creationId xmlns:a16="http://schemas.microsoft.com/office/drawing/2014/main" id="{DF854CCC-5695-4AEB-A49B-830F6181120F}"/>
              </a:ext>
            </a:extLst>
          </p:cNvPr>
          <p:cNvSpPr txBox="1"/>
          <p:nvPr/>
        </p:nvSpPr>
        <p:spPr>
          <a:xfrm>
            <a:off x="4510363" y="842628"/>
            <a:ext cx="1470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Pondérations / normalisation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41CE2925-4721-438F-BB63-323E7B1E26A1}"/>
              </a:ext>
            </a:extLst>
          </p:cNvPr>
          <p:cNvSpPr txBox="1"/>
          <p:nvPr/>
        </p:nvSpPr>
        <p:spPr>
          <a:xfrm>
            <a:off x="6496034" y="953461"/>
            <a:ext cx="14708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Matérialité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1ABE1CED-9E17-4807-BBBA-368FCDFCD1D6}"/>
              </a:ext>
            </a:extLst>
          </p:cNvPr>
          <p:cNvSpPr txBox="1"/>
          <p:nvPr/>
        </p:nvSpPr>
        <p:spPr>
          <a:xfrm>
            <a:off x="8582025" y="913420"/>
            <a:ext cx="16891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dirty="0"/>
              <a:t>Application du coef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EBCD9C59-8478-4DE1-992B-3B66921C5BD6}"/>
              </a:ext>
            </a:extLst>
          </p:cNvPr>
          <p:cNvSpPr txBox="1"/>
          <p:nvPr/>
        </p:nvSpPr>
        <p:spPr>
          <a:xfrm>
            <a:off x="7589588" y="2602831"/>
            <a:ext cx="2335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990000"/>
                </a:solidFill>
              </a:rPr>
              <a:t>Hypothèses grammage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C7101A16-B9E7-4C4F-B394-F6D75891D2BD}"/>
              </a:ext>
            </a:extLst>
          </p:cNvPr>
          <p:cNvSpPr txBox="1"/>
          <p:nvPr/>
        </p:nvSpPr>
        <p:spPr>
          <a:xfrm>
            <a:off x="5588822" y="3088123"/>
            <a:ext cx="39371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990000"/>
                </a:solidFill>
              </a:rPr>
              <a:t>Hypothèses taux de pollution aquatique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B88CDC23-207C-4047-B692-27D9E2A55DDA}"/>
              </a:ext>
            </a:extLst>
          </p:cNvPr>
          <p:cNvSpPr txBox="1"/>
          <p:nvPr/>
        </p:nvSpPr>
        <p:spPr>
          <a:xfrm>
            <a:off x="5469554" y="2366536"/>
            <a:ext cx="2957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990000"/>
                </a:solidFill>
              </a:rPr>
              <a:t>Hypothèses mix énergétiques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20F55825-7E66-4CE3-A8E7-21EE7261E139}"/>
              </a:ext>
            </a:extLst>
          </p:cNvPr>
          <p:cNvSpPr txBox="1"/>
          <p:nvPr/>
        </p:nvSpPr>
        <p:spPr>
          <a:xfrm>
            <a:off x="8738127" y="2332252"/>
            <a:ext cx="2547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990000"/>
                </a:solidFill>
              </a:rPr>
              <a:t>Hypothèses ratio cru-cuit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4FAF43EA-D0E7-4921-B41F-3A28EBF9C143}"/>
              </a:ext>
            </a:extLst>
          </p:cNvPr>
          <p:cNvSpPr txBox="1"/>
          <p:nvPr/>
        </p:nvSpPr>
        <p:spPr>
          <a:xfrm>
            <a:off x="4770273" y="2834727"/>
            <a:ext cx="3376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990000"/>
                </a:solidFill>
              </a:rPr>
              <a:t>Formules de calcul compléments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155F2C04-7A67-4C40-9077-C4D8B75D2AA4}"/>
              </a:ext>
            </a:extLst>
          </p:cNvPr>
          <p:cNvSpPr txBox="1"/>
          <p:nvPr/>
        </p:nvSpPr>
        <p:spPr>
          <a:xfrm>
            <a:off x="8969568" y="2825835"/>
            <a:ext cx="2397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990000"/>
                </a:solidFill>
              </a:rPr>
              <a:t>Hypothèses accessoires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CF2AA34C-E518-440D-B4BC-163E2EC77EDE}"/>
              </a:ext>
            </a:extLst>
          </p:cNvPr>
          <p:cNvSpPr/>
          <p:nvPr/>
        </p:nvSpPr>
        <p:spPr>
          <a:xfrm>
            <a:off x="4326346" y="2242916"/>
            <a:ext cx="8143329" cy="14445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35D4F247-BFA3-4070-AA3C-7436426A3308}"/>
              </a:ext>
            </a:extLst>
          </p:cNvPr>
          <p:cNvSpPr/>
          <p:nvPr/>
        </p:nvSpPr>
        <p:spPr>
          <a:xfrm>
            <a:off x="1940769" y="2421544"/>
            <a:ext cx="2176995" cy="94512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7C2017EC-A893-4E02-9B3A-DF3FC77EFF36}"/>
              </a:ext>
            </a:extLst>
          </p:cNvPr>
          <p:cNvSpPr txBox="1"/>
          <p:nvPr/>
        </p:nvSpPr>
        <p:spPr>
          <a:xfrm>
            <a:off x="1994365" y="2445608"/>
            <a:ext cx="2062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990000"/>
                </a:solidFill>
              </a:rPr>
              <a:t>Liste des procédés génériques mobilisés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5A19E19D-5A50-47D7-9D86-49467AB86BAC}"/>
              </a:ext>
            </a:extLst>
          </p:cNvPr>
          <p:cNvSpPr txBox="1"/>
          <p:nvPr/>
        </p:nvSpPr>
        <p:spPr>
          <a:xfrm>
            <a:off x="10469004" y="4402757"/>
            <a:ext cx="16815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u="sng" dirty="0">
                <a:solidFill>
                  <a:srgbClr val="0070C0"/>
                </a:solidFill>
              </a:rPr>
              <a:t>Paramètre</a:t>
            </a:r>
            <a:r>
              <a:rPr lang="fr-FR" dirty="0">
                <a:solidFill>
                  <a:srgbClr val="0070C0"/>
                </a:solidFill>
              </a:rPr>
              <a:t> n2.1</a:t>
            </a:r>
          </a:p>
          <a:p>
            <a:pPr lvl="0"/>
            <a:r>
              <a:rPr lang="fr-FR" sz="1200" dirty="0">
                <a:solidFill>
                  <a:srgbClr val="0070C0"/>
                </a:solidFill>
              </a:rPr>
              <a:t>Ex. Proportion d’engrais organique</a:t>
            </a:r>
          </a:p>
        </p:txBody>
      </p:sp>
      <p:cxnSp>
        <p:nvCxnSpPr>
          <p:cNvPr id="65" name="Connecteur droit avec flèche 64">
            <a:extLst>
              <a:ext uri="{FF2B5EF4-FFF2-40B4-BE49-F238E27FC236}">
                <a16:creationId xmlns:a16="http://schemas.microsoft.com/office/drawing/2014/main" id="{C2060140-44BD-4257-A597-6405E40F9EAC}"/>
              </a:ext>
            </a:extLst>
          </p:cNvPr>
          <p:cNvCxnSpPr>
            <a:cxnSpLocks/>
            <a:stCxn id="9" idx="0"/>
            <a:endCxn id="59" idx="4"/>
          </p:cNvCxnSpPr>
          <p:nvPr/>
        </p:nvCxnSpPr>
        <p:spPr>
          <a:xfrm flipH="1" flipV="1">
            <a:off x="3029267" y="3366668"/>
            <a:ext cx="238484" cy="971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8811B7C0-B0E0-403F-99F0-795D816356CC}"/>
              </a:ext>
            </a:extLst>
          </p:cNvPr>
          <p:cNvCxnSpPr>
            <a:cxnSpLocks/>
            <a:stCxn id="12" idx="0"/>
            <a:endCxn id="59" idx="4"/>
          </p:cNvCxnSpPr>
          <p:nvPr/>
        </p:nvCxnSpPr>
        <p:spPr>
          <a:xfrm flipH="1" flipV="1">
            <a:off x="3029267" y="3366668"/>
            <a:ext cx="2218613" cy="980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4EC5C259-DF47-4B0F-9281-72E58E871FE2}"/>
              </a:ext>
            </a:extLst>
          </p:cNvPr>
          <p:cNvCxnSpPr>
            <a:cxnSpLocks/>
            <a:stCxn id="11" idx="0"/>
            <a:endCxn id="26" idx="4"/>
          </p:cNvCxnSpPr>
          <p:nvPr/>
        </p:nvCxnSpPr>
        <p:spPr>
          <a:xfrm flipV="1">
            <a:off x="7132553" y="3687481"/>
            <a:ext cx="1265458" cy="6875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23EFD5F3-CC8C-4EEA-B4B0-1F276F88755B}"/>
              </a:ext>
            </a:extLst>
          </p:cNvPr>
          <p:cNvCxnSpPr>
            <a:cxnSpLocks/>
            <a:stCxn id="16" idx="0"/>
            <a:endCxn id="59" idx="4"/>
          </p:cNvCxnSpPr>
          <p:nvPr/>
        </p:nvCxnSpPr>
        <p:spPr>
          <a:xfrm flipH="1" flipV="1">
            <a:off x="3029267" y="3366668"/>
            <a:ext cx="6071181" cy="1027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050A01B1-D094-45CA-9752-68376815FED4}"/>
              </a:ext>
            </a:extLst>
          </p:cNvPr>
          <p:cNvCxnSpPr>
            <a:cxnSpLocks/>
            <a:stCxn id="64" idx="0"/>
            <a:endCxn id="26" idx="4"/>
          </p:cNvCxnSpPr>
          <p:nvPr/>
        </p:nvCxnSpPr>
        <p:spPr>
          <a:xfrm flipH="1" flipV="1">
            <a:off x="8398011" y="3687481"/>
            <a:ext cx="2911745" cy="715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A11D21EA-473A-4B1B-8611-B5B5018C73D9}"/>
              </a:ext>
            </a:extLst>
          </p:cNvPr>
          <p:cNvCxnSpPr>
            <a:cxnSpLocks/>
            <a:stCxn id="64" idx="0"/>
            <a:endCxn id="59" idx="4"/>
          </p:cNvCxnSpPr>
          <p:nvPr/>
        </p:nvCxnSpPr>
        <p:spPr>
          <a:xfrm flipH="1" flipV="1">
            <a:off x="3029267" y="3366668"/>
            <a:ext cx="8280489" cy="10360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necteur droit avec flèche 81">
            <a:extLst>
              <a:ext uri="{FF2B5EF4-FFF2-40B4-BE49-F238E27FC236}">
                <a16:creationId xmlns:a16="http://schemas.microsoft.com/office/drawing/2014/main" id="{799A9BF0-471A-4962-B293-7E7425622EE2}"/>
              </a:ext>
            </a:extLst>
          </p:cNvPr>
          <p:cNvCxnSpPr>
            <a:cxnSpLocks/>
            <a:stCxn id="59" idx="7"/>
            <a:endCxn id="7" idx="2"/>
          </p:cNvCxnSpPr>
          <p:nvPr/>
        </p:nvCxnSpPr>
        <p:spPr>
          <a:xfrm flipV="1">
            <a:off x="3798950" y="1875633"/>
            <a:ext cx="711413" cy="684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necteur droit avec flèche 84">
            <a:extLst>
              <a:ext uri="{FF2B5EF4-FFF2-40B4-BE49-F238E27FC236}">
                <a16:creationId xmlns:a16="http://schemas.microsoft.com/office/drawing/2014/main" id="{7165C540-6774-47B8-ABE6-D5B737BE4EC1}"/>
              </a:ext>
            </a:extLst>
          </p:cNvPr>
          <p:cNvCxnSpPr>
            <a:cxnSpLocks/>
            <a:stCxn id="26" idx="0"/>
            <a:endCxn id="7" idx="2"/>
          </p:cNvCxnSpPr>
          <p:nvPr/>
        </p:nvCxnSpPr>
        <p:spPr>
          <a:xfrm flipH="1" flipV="1">
            <a:off x="4510363" y="1875633"/>
            <a:ext cx="3887648" cy="367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E9819E1E-464C-4E61-8785-055ACC79B924}"/>
              </a:ext>
            </a:extLst>
          </p:cNvPr>
          <p:cNvCxnSpPr>
            <a:cxnSpLocks/>
            <a:stCxn id="26" idx="0"/>
            <a:endCxn id="8" idx="2"/>
          </p:cNvCxnSpPr>
          <p:nvPr/>
        </p:nvCxnSpPr>
        <p:spPr>
          <a:xfrm flipH="1" flipV="1">
            <a:off x="7326134" y="1864461"/>
            <a:ext cx="1071877" cy="378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eur droit avec flèche 90">
            <a:extLst>
              <a:ext uri="{FF2B5EF4-FFF2-40B4-BE49-F238E27FC236}">
                <a16:creationId xmlns:a16="http://schemas.microsoft.com/office/drawing/2014/main" id="{4567A3DB-3781-48D8-A50A-7200FC562A2E}"/>
              </a:ext>
            </a:extLst>
          </p:cNvPr>
          <p:cNvCxnSpPr>
            <a:cxnSpLocks/>
            <a:stCxn id="26" idx="0"/>
            <a:endCxn id="14" idx="2"/>
          </p:cNvCxnSpPr>
          <p:nvPr/>
        </p:nvCxnSpPr>
        <p:spPr>
          <a:xfrm flipV="1">
            <a:off x="8398011" y="1835182"/>
            <a:ext cx="1738156" cy="407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ZoneTexte 107">
            <a:extLst>
              <a:ext uri="{FF2B5EF4-FFF2-40B4-BE49-F238E27FC236}">
                <a16:creationId xmlns:a16="http://schemas.microsoft.com/office/drawing/2014/main" id="{FB3C8DDC-564E-47B4-A494-91568E9F497E}"/>
              </a:ext>
            </a:extLst>
          </p:cNvPr>
          <p:cNvSpPr txBox="1"/>
          <p:nvPr/>
        </p:nvSpPr>
        <p:spPr>
          <a:xfrm>
            <a:off x="25557" y="778127"/>
            <a:ext cx="25726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highlight>
                  <a:srgbClr val="FFFF00"/>
                </a:highlight>
              </a:rPr>
              <a:t>Dernière étape de l’algorithme de calcul – </a:t>
            </a:r>
            <a:r>
              <a:rPr lang="fr-FR" sz="1400" b="1" dirty="0">
                <a:highlight>
                  <a:srgbClr val="00FFFF"/>
                </a:highlight>
              </a:rPr>
              <a:t>Arrêté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D391E959-80DA-4B72-9585-2E44C7ACDBFD}"/>
              </a:ext>
            </a:extLst>
          </p:cNvPr>
          <p:cNvSpPr txBox="1"/>
          <p:nvPr/>
        </p:nvSpPr>
        <p:spPr>
          <a:xfrm>
            <a:off x="15961" y="2373435"/>
            <a:ext cx="15995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highlight>
                  <a:srgbClr val="FFFF00"/>
                </a:highlight>
              </a:rPr>
              <a:t>« Données méthode » et algorithme – </a:t>
            </a:r>
            <a:r>
              <a:rPr lang="fr-FR" sz="1400" b="1" dirty="0">
                <a:highlight>
                  <a:srgbClr val="00FFFF"/>
                </a:highlight>
              </a:rPr>
              <a:t>Notice méthodo</a:t>
            </a:r>
          </a:p>
        </p:txBody>
      </p:sp>
      <p:sp>
        <p:nvSpPr>
          <p:cNvPr id="110" name="ZoneTexte 109">
            <a:extLst>
              <a:ext uri="{FF2B5EF4-FFF2-40B4-BE49-F238E27FC236}">
                <a16:creationId xmlns:a16="http://schemas.microsoft.com/office/drawing/2014/main" id="{ADF4B52C-4C84-491E-B9C3-353B50A253B2}"/>
              </a:ext>
            </a:extLst>
          </p:cNvPr>
          <p:cNvSpPr txBox="1"/>
          <p:nvPr/>
        </p:nvSpPr>
        <p:spPr>
          <a:xfrm>
            <a:off x="7941" y="4202227"/>
            <a:ext cx="15995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highlight>
                  <a:srgbClr val="FFFF00"/>
                </a:highlight>
              </a:rPr>
              <a:t>Points d’entrée dans la méthode – </a:t>
            </a:r>
            <a:r>
              <a:rPr lang="fr-FR" sz="1400" b="1" dirty="0">
                <a:highlight>
                  <a:srgbClr val="00FFFF"/>
                </a:highlight>
              </a:rPr>
              <a:t>Arrêté et notice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F79B13CA-E8AD-4C82-8E5C-4F85EBFFEA0B}"/>
              </a:ext>
            </a:extLst>
          </p:cNvPr>
          <p:cNvSpPr txBox="1"/>
          <p:nvPr/>
        </p:nvSpPr>
        <p:spPr>
          <a:xfrm>
            <a:off x="-35406" y="4901353"/>
            <a:ext cx="15995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highlight>
                  <a:srgbClr val="FF00FF"/>
                </a:highlight>
              </a:rPr>
              <a:t>Données permettant de décrire le produit – </a:t>
            </a:r>
            <a:r>
              <a:rPr lang="fr-FR" sz="1400" b="1" dirty="0">
                <a:highlight>
                  <a:srgbClr val="00FFFF"/>
                </a:highlight>
              </a:rPr>
              <a:t>Portail non publié</a:t>
            </a:r>
            <a:r>
              <a:rPr lang="fr-FR" sz="1400" b="1" dirty="0">
                <a:highlight>
                  <a:srgbClr val="FFFF00"/>
                </a:highlight>
              </a:rPr>
              <a:t> </a:t>
            </a:r>
            <a:endParaRPr lang="fr-FR" sz="1400" b="1" dirty="0">
              <a:highlight>
                <a:srgbClr val="00FFFF"/>
              </a:highlight>
            </a:endParaRP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A40A3392-EB9F-4B59-B3EF-C5034B9006D1}"/>
              </a:ext>
            </a:extLst>
          </p:cNvPr>
          <p:cNvSpPr txBox="1"/>
          <p:nvPr/>
        </p:nvSpPr>
        <p:spPr>
          <a:xfrm>
            <a:off x="3015618" y="5056979"/>
            <a:ext cx="17004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7030A0"/>
                </a:solidFill>
              </a:rPr>
              <a:t>20g de blé, œuf, farine</a:t>
            </a: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8FB49AED-33A6-4906-9B1B-FF8DCF94006C}"/>
              </a:ext>
            </a:extLst>
          </p:cNvPr>
          <p:cNvSpPr txBox="1"/>
          <p:nvPr/>
        </p:nvSpPr>
        <p:spPr>
          <a:xfrm>
            <a:off x="5240906" y="5102136"/>
            <a:ext cx="1104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7030A0"/>
                </a:solidFill>
              </a:rPr>
              <a:t>Bio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C1D4BF76-D190-4CCE-A2A3-31CDF6810697}"/>
              </a:ext>
            </a:extLst>
          </p:cNvPr>
          <p:cNvSpPr txBox="1"/>
          <p:nvPr/>
        </p:nvSpPr>
        <p:spPr>
          <a:xfrm>
            <a:off x="6967351" y="5102136"/>
            <a:ext cx="7567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7030A0"/>
                </a:solidFill>
              </a:rPr>
              <a:t>∅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8BAC5A15-5175-47B7-881E-CD257D64E346}"/>
              </a:ext>
            </a:extLst>
          </p:cNvPr>
          <p:cNvSpPr txBox="1"/>
          <p:nvPr/>
        </p:nvSpPr>
        <p:spPr>
          <a:xfrm>
            <a:off x="8512977" y="5031278"/>
            <a:ext cx="1646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7030A0"/>
                </a:solidFill>
              </a:rPr>
              <a:t>Emballage XXX</a:t>
            </a:r>
          </a:p>
        </p:txBody>
      </p:sp>
      <p:sp>
        <p:nvSpPr>
          <p:cNvPr id="117" name="ZoneTexte 116">
            <a:extLst>
              <a:ext uri="{FF2B5EF4-FFF2-40B4-BE49-F238E27FC236}">
                <a16:creationId xmlns:a16="http://schemas.microsoft.com/office/drawing/2014/main" id="{38F3C587-5A29-423A-9BC9-0F7423E34E6D}"/>
              </a:ext>
            </a:extLst>
          </p:cNvPr>
          <p:cNvSpPr txBox="1"/>
          <p:nvPr/>
        </p:nvSpPr>
        <p:spPr>
          <a:xfrm>
            <a:off x="1465495" y="5169330"/>
            <a:ext cx="1409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7030A0"/>
                </a:solidFill>
              </a:rPr>
              <a:t>ICV  blé spécifique</a:t>
            </a:r>
          </a:p>
        </p:txBody>
      </p:sp>
      <p:cxnSp>
        <p:nvCxnSpPr>
          <p:cNvPr id="118" name="Connecteur droit avec flèche 117">
            <a:extLst>
              <a:ext uri="{FF2B5EF4-FFF2-40B4-BE49-F238E27FC236}">
                <a16:creationId xmlns:a16="http://schemas.microsoft.com/office/drawing/2014/main" id="{EEBD5B9E-4F0D-4EAC-9000-978C57C02E6E}"/>
              </a:ext>
            </a:extLst>
          </p:cNvPr>
          <p:cNvCxnSpPr>
            <a:cxnSpLocks/>
            <a:stCxn id="113" idx="0"/>
          </p:cNvCxnSpPr>
          <p:nvPr/>
        </p:nvCxnSpPr>
        <p:spPr>
          <a:xfrm flipH="1" flipV="1">
            <a:off x="3350666" y="4772089"/>
            <a:ext cx="515184" cy="284890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eur droit avec flèche 120">
            <a:extLst>
              <a:ext uri="{FF2B5EF4-FFF2-40B4-BE49-F238E27FC236}">
                <a16:creationId xmlns:a16="http://schemas.microsoft.com/office/drawing/2014/main" id="{67C5C598-4BFD-48B2-A1F5-9908F72CCFBF}"/>
              </a:ext>
            </a:extLst>
          </p:cNvPr>
          <p:cNvCxnSpPr>
            <a:cxnSpLocks/>
          </p:cNvCxnSpPr>
          <p:nvPr/>
        </p:nvCxnSpPr>
        <p:spPr>
          <a:xfrm flipH="1" flipV="1">
            <a:off x="5005866" y="4900936"/>
            <a:ext cx="332230" cy="25271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avec flèche 123">
            <a:extLst>
              <a:ext uri="{FF2B5EF4-FFF2-40B4-BE49-F238E27FC236}">
                <a16:creationId xmlns:a16="http://schemas.microsoft.com/office/drawing/2014/main" id="{8B6B9592-3302-4F69-A453-A2F9CAF0859A}"/>
              </a:ext>
            </a:extLst>
          </p:cNvPr>
          <p:cNvCxnSpPr>
            <a:cxnSpLocks/>
          </p:cNvCxnSpPr>
          <p:nvPr/>
        </p:nvCxnSpPr>
        <p:spPr>
          <a:xfrm flipH="1" flipV="1">
            <a:off x="6762580" y="4888704"/>
            <a:ext cx="332230" cy="25271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eur droit avec flèche 124">
            <a:extLst>
              <a:ext uri="{FF2B5EF4-FFF2-40B4-BE49-F238E27FC236}">
                <a16:creationId xmlns:a16="http://schemas.microsoft.com/office/drawing/2014/main" id="{272D0792-DAD7-458C-A789-A36484F77C05}"/>
              </a:ext>
            </a:extLst>
          </p:cNvPr>
          <p:cNvCxnSpPr>
            <a:cxnSpLocks/>
          </p:cNvCxnSpPr>
          <p:nvPr/>
        </p:nvCxnSpPr>
        <p:spPr>
          <a:xfrm flipH="1" flipV="1">
            <a:off x="8803453" y="4888704"/>
            <a:ext cx="332230" cy="25271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eur droit avec flèche 125">
            <a:extLst>
              <a:ext uri="{FF2B5EF4-FFF2-40B4-BE49-F238E27FC236}">
                <a16:creationId xmlns:a16="http://schemas.microsoft.com/office/drawing/2014/main" id="{7F81F765-C329-4DDB-B520-852FE27D0C7C}"/>
              </a:ext>
            </a:extLst>
          </p:cNvPr>
          <p:cNvCxnSpPr>
            <a:cxnSpLocks/>
            <a:stCxn id="117" idx="0"/>
            <a:endCxn id="60" idx="2"/>
          </p:cNvCxnSpPr>
          <p:nvPr/>
        </p:nvCxnSpPr>
        <p:spPr>
          <a:xfrm flipV="1">
            <a:off x="2170396" y="3368938"/>
            <a:ext cx="855224" cy="180039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ZoneTexte 128">
            <a:extLst>
              <a:ext uri="{FF2B5EF4-FFF2-40B4-BE49-F238E27FC236}">
                <a16:creationId xmlns:a16="http://schemas.microsoft.com/office/drawing/2014/main" id="{203DBB43-E5A1-408D-A5B2-2D9900F645B7}"/>
              </a:ext>
            </a:extLst>
          </p:cNvPr>
          <p:cNvSpPr txBox="1"/>
          <p:nvPr/>
        </p:nvSpPr>
        <p:spPr>
          <a:xfrm>
            <a:off x="750654" y="272987"/>
            <a:ext cx="2234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highlight>
                  <a:srgbClr val="FF00FF"/>
                </a:highlight>
              </a:rPr>
              <a:t>Coût environnemental du produit - </a:t>
            </a:r>
            <a:r>
              <a:rPr lang="fr-FR" sz="1400" b="1" dirty="0">
                <a:highlight>
                  <a:srgbClr val="00FFFF"/>
                </a:highlight>
              </a:rPr>
              <a:t>Portail publié</a:t>
            </a:r>
          </a:p>
        </p:txBody>
      </p:sp>
      <p:sp>
        <p:nvSpPr>
          <p:cNvPr id="130" name="ZoneTexte 129">
            <a:extLst>
              <a:ext uri="{FF2B5EF4-FFF2-40B4-BE49-F238E27FC236}">
                <a16:creationId xmlns:a16="http://schemas.microsoft.com/office/drawing/2014/main" id="{0F48AACD-8EC4-427B-BE19-C58C6DC26FB8}"/>
              </a:ext>
            </a:extLst>
          </p:cNvPr>
          <p:cNvSpPr txBox="1"/>
          <p:nvPr/>
        </p:nvSpPr>
        <p:spPr>
          <a:xfrm>
            <a:off x="774718" y="1283634"/>
            <a:ext cx="19633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highlight>
                  <a:srgbClr val="FF00FF"/>
                </a:highlight>
              </a:rPr>
              <a:t>Décomposition du coût environnemental du produit – </a:t>
            </a:r>
            <a:r>
              <a:rPr lang="fr-FR" sz="1400" b="1" dirty="0">
                <a:highlight>
                  <a:srgbClr val="00FFFF"/>
                </a:highlight>
              </a:rPr>
              <a:t>Portail publié</a:t>
            </a:r>
            <a:r>
              <a:rPr lang="fr-FR" sz="1400" b="1" dirty="0">
                <a:highlight>
                  <a:srgbClr val="FFFF00"/>
                </a:highlight>
              </a:rPr>
              <a:t> </a:t>
            </a:r>
            <a:endParaRPr lang="fr-FR" sz="1400" b="1" dirty="0">
              <a:highlight>
                <a:srgbClr val="00FFFF"/>
              </a:highlight>
            </a:endParaRP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7AF86230-A646-40B9-AC8E-FBE4FC23783F}"/>
              </a:ext>
            </a:extLst>
          </p:cNvPr>
          <p:cNvSpPr txBox="1"/>
          <p:nvPr/>
        </p:nvSpPr>
        <p:spPr>
          <a:xfrm>
            <a:off x="7830956" y="6245492"/>
            <a:ext cx="428976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b="1" dirty="0">
                <a:highlight>
                  <a:srgbClr val="FFFF00"/>
                </a:highlight>
              </a:rPr>
              <a:t>Méthode =&gt;</a:t>
            </a:r>
            <a:r>
              <a:rPr lang="fr-FR" sz="1400" b="1" dirty="0">
                <a:highlight>
                  <a:srgbClr val="FFFFCC"/>
                </a:highlight>
              </a:rPr>
              <a:t> Cadre posé pour tous les produits</a:t>
            </a:r>
          </a:p>
          <a:p>
            <a:r>
              <a:rPr lang="fr-FR" sz="1400" b="1" dirty="0">
                <a:highlight>
                  <a:srgbClr val="FF00FF"/>
                </a:highlight>
              </a:rPr>
              <a:t>Produit =&gt;</a:t>
            </a:r>
            <a:r>
              <a:rPr lang="fr-FR" sz="1400" b="1" dirty="0"/>
              <a:t> </a:t>
            </a:r>
            <a:r>
              <a:rPr lang="fr-FR" sz="1400" b="1" dirty="0">
                <a:solidFill>
                  <a:srgbClr val="7030A0"/>
                </a:solidFill>
              </a:rPr>
              <a:t>Informations spécifiques à un produit donné</a:t>
            </a:r>
          </a:p>
        </p:txBody>
      </p:sp>
      <p:sp>
        <p:nvSpPr>
          <p:cNvPr id="137" name="ZoneTexte 136">
            <a:extLst>
              <a:ext uri="{FF2B5EF4-FFF2-40B4-BE49-F238E27FC236}">
                <a16:creationId xmlns:a16="http://schemas.microsoft.com/office/drawing/2014/main" id="{91503D63-7616-4665-B722-A8E8199A6037}"/>
              </a:ext>
            </a:extLst>
          </p:cNvPr>
          <p:cNvSpPr txBox="1"/>
          <p:nvPr/>
        </p:nvSpPr>
        <p:spPr>
          <a:xfrm>
            <a:off x="10148925" y="3508437"/>
            <a:ext cx="21769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u="sng" dirty="0"/>
              <a:t>Données secondaires</a:t>
            </a:r>
            <a:r>
              <a:rPr lang="fr-FR" sz="1200" dirty="0"/>
              <a:t>, </a:t>
            </a:r>
            <a:r>
              <a:rPr lang="fr-FR" sz="1200" b="1" dirty="0"/>
              <a:t>non caractéristiques au produit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fr-FR" sz="1000" dirty="0"/>
              <a:t>Données moyennes, raisonnablement majorantes… </a:t>
            </a:r>
          </a:p>
        </p:txBody>
      </p:sp>
      <p:sp>
        <p:nvSpPr>
          <p:cNvPr id="138" name="ZoneTexte 137">
            <a:extLst>
              <a:ext uri="{FF2B5EF4-FFF2-40B4-BE49-F238E27FC236}">
                <a16:creationId xmlns:a16="http://schemas.microsoft.com/office/drawing/2014/main" id="{C60B6701-51B6-41B8-BE55-2DF201AE30C7}"/>
              </a:ext>
            </a:extLst>
          </p:cNvPr>
          <p:cNvSpPr txBox="1"/>
          <p:nvPr/>
        </p:nvSpPr>
        <p:spPr>
          <a:xfrm>
            <a:off x="6764084" y="5388789"/>
            <a:ext cx="142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Symbol" panose="05050102010706020507" pitchFamily="18" charset="2"/>
              <a:buChar char="Þ"/>
            </a:pPr>
            <a:r>
              <a:rPr lang="fr-FR" sz="1000" b="1" dirty="0">
                <a:solidFill>
                  <a:schemeClr val="accent1">
                    <a:lumMod val="75000"/>
                  </a:schemeClr>
                </a:solidFill>
              </a:rPr>
              <a:t>Valeur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fr-FR" sz="1000" u="sng" dirty="0">
                <a:solidFill>
                  <a:schemeClr val="accent1">
                    <a:lumMod val="75000"/>
                  </a:schemeClr>
                </a:solidFill>
              </a:rPr>
              <a:t>par défaut 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8475E64-A245-4498-ACB0-55605F1AD328}"/>
              </a:ext>
            </a:extLst>
          </p:cNvPr>
          <p:cNvSpPr txBox="1"/>
          <p:nvPr/>
        </p:nvSpPr>
        <p:spPr>
          <a:xfrm>
            <a:off x="2968377" y="5596266"/>
            <a:ext cx="21769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Symbol" panose="05050102010706020507" pitchFamily="18" charset="2"/>
              <a:buChar char="Þ"/>
            </a:pPr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Donnée </a:t>
            </a:r>
            <a:r>
              <a:rPr lang="fr-FR" sz="1000" u="sng" dirty="0">
                <a:solidFill>
                  <a:schemeClr val="accent1">
                    <a:lumMod val="75000"/>
                  </a:schemeClr>
                </a:solidFill>
              </a:rPr>
              <a:t>spécifique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 au produit</a:t>
            </a:r>
          </a:p>
        </p:txBody>
      </p:sp>
      <p:sp>
        <p:nvSpPr>
          <p:cNvPr id="140" name="ZoneTexte 139">
            <a:extLst>
              <a:ext uri="{FF2B5EF4-FFF2-40B4-BE49-F238E27FC236}">
                <a16:creationId xmlns:a16="http://schemas.microsoft.com/office/drawing/2014/main" id="{BEA226C0-656F-4BEF-A5CB-D67437B9940A}"/>
              </a:ext>
            </a:extLst>
          </p:cNvPr>
          <p:cNvSpPr txBox="1"/>
          <p:nvPr/>
        </p:nvSpPr>
        <p:spPr>
          <a:xfrm>
            <a:off x="4585585" y="5380144"/>
            <a:ext cx="21769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Symbol" panose="05050102010706020507" pitchFamily="18" charset="2"/>
              <a:buChar char="Þ"/>
            </a:pPr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Donnée </a:t>
            </a:r>
            <a:r>
              <a:rPr lang="fr-FR" sz="1000" u="sng" dirty="0">
                <a:solidFill>
                  <a:schemeClr val="accent1">
                    <a:lumMod val="75000"/>
                  </a:schemeClr>
                </a:solidFill>
              </a:rPr>
              <a:t>spécifique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 au produit</a:t>
            </a:r>
          </a:p>
        </p:txBody>
      </p:sp>
      <p:sp>
        <p:nvSpPr>
          <p:cNvPr id="141" name="ZoneTexte 140">
            <a:extLst>
              <a:ext uri="{FF2B5EF4-FFF2-40B4-BE49-F238E27FC236}">
                <a16:creationId xmlns:a16="http://schemas.microsoft.com/office/drawing/2014/main" id="{0E0F2EAD-494D-4B2C-9CC6-7A577082E055}"/>
              </a:ext>
            </a:extLst>
          </p:cNvPr>
          <p:cNvSpPr txBox="1"/>
          <p:nvPr/>
        </p:nvSpPr>
        <p:spPr>
          <a:xfrm>
            <a:off x="8423988" y="5337240"/>
            <a:ext cx="21769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Symbol" panose="05050102010706020507" pitchFamily="18" charset="2"/>
              <a:buChar char="Þ"/>
            </a:pPr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Donnée </a:t>
            </a:r>
            <a:r>
              <a:rPr lang="fr-FR" sz="1000" u="sng" dirty="0">
                <a:solidFill>
                  <a:schemeClr val="accent1">
                    <a:lumMod val="75000"/>
                  </a:schemeClr>
                </a:solidFill>
              </a:rPr>
              <a:t>spécifique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 au produit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88017C0-3646-4C4F-840A-34D681A95FBA}"/>
              </a:ext>
            </a:extLst>
          </p:cNvPr>
          <p:cNvSpPr txBox="1"/>
          <p:nvPr/>
        </p:nvSpPr>
        <p:spPr>
          <a:xfrm>
            <a:off x="1177743" y="5803030"/>
            <a:ext cx="21769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Symbol" panose="05050102010706020507" pitchFamily="18" charset="2"/>
              <a:buChar char="Þ"/>
            </a:pPr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Donnée </a:t>
            </a:r>
            <a:r>
              <a:rPr lang="fr-FR" sz="1000" u="sng" dirty="0">
                <a:solidFill>
                  <a:schemeClr val="accent1">
                    <a:lumMod val="75000"/>
                  </a:schemeClr>
                </a:solidFill>
              </a:rPr>
              <a:t>spécifique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 au produit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Donnée </a:t>
            </a:r>
            <a:r>
              <a:rPr lang="fr-FR" sz="1000" u="sng" dirty="0">
                <a:solidFill>
                  <a:schemeClr val="accent1">
                    <a:lumMod val="75000"/>
                  </a:schemeClr>
                </a:solidFill>
              </a:rPr>
              <a:t>semi-spécifique 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(à un groupe de produit) ex. donnée </a:t>
            </a:r>
            <a:r>
              <a:rPr lang="fr-FR" sz="1000" dirty="0" err="1">
                <a:solidFill>
                  <a:schemeClr val="accent1">
                    <a:lumMod val="75000"/>
                  </a:schemeClr>
                </a:solidFill>
              </a:rPr>
              <a:t>moy</a:t>
            </a:r>
            <a:r>
              <a:rPr lang="fr-FR" sz="1000" dirty="0">
                <a:solidFill>
                  <a:schemeClr val="accent1">
                    <a:lumMod val="75000"/>
                  </a:schemeClr>
                </a:solidFill>
              </a:rPr>
              <a:t>. à l’échelle d’une coopérative agricole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3DFF73EB-3A80-4FCC-AFA6-6D8C86D1D303}"/>
              </a:ext>
            </a:extLst>
          </p:cNvPr>
          <p:cNvSpPr txBox="1"/>
          <p:nvPr/>
        </p:nvSpPr>
        <p:spPr>
          <a:xfrm>
            <a:off x="1053145" y="3255722"/>
            <a:ext cx="21769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u="sng" dirty="0"/>
              <a:t>Données secondaires</a:t>
            </a:r>
            <a:r>
              <a:rPr lang="fr-FR" sz="1200" dirty="0"/>
              <a:t>, </a:t>
            </a:r>
            <a:r>
              <a:rPr lang="fr-FR" sz="1200" b="1" dirty="0"/>
              <a:t>non caractéristiques au produit</a:t>
            </a:r>
          </a:p>
          <a:p>
            <a:pPr marL="171450" indent="-171450">
              <a:buFont typeface="Symbol" panose="05050102010706020507" pitchFamily="18" charset="2"/>
              <a:buChar char="Þ"/>
            </a:pPr>
            <a:r>
              <a:rPr lang="fr-FR" sz="1000" dirty="0"/>
              <a:t>Données moyennes, raisonnablement majorantes… </a:t>
            </a:r>
          </a:p>
        </p:txBody>
      </p:sp>
    </p:spTree>
    <p:extLst>
      <p:ext uri="{BB962C8B-B14F-4D97-AF65-F5344CB8AC3E}">
        <p14:creationId xmlns:p14="http://schemas.microsoft.com/office/powerpoint/2010/main" val="7247115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221</Words>
  <Application>Microsoft Office PowerPoint</Application>
  <PresentationFormat>Grand écran</PresentationFormat>
  <Paragraphs>49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Symbol</vt:lpstr>
      <vt:lpstr>Thème Office</vt:lpstr>
      <vt:lpstr>Présentation PowerPoint</vt:lpstr>
    </vt:vector>
  </TitlesOfParts>
  <Company>MTES\MCTRCT - 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CHENERIE Lisa</dc:creator>
  <cp:lastModifiedBy>DAGRAS Pascal</cp:lastModifiedBy>
  <cp:revision>13</cp:revision>
  <dcterms:created xsi:type="dcterms:W3CDTF">2026-01-13T14:26:22Z</dcterms:created>
  <dcterms:modified xsi:type="dcterms:W3CDTF">2026-01-15T09:10:10Z</dcterms:modified>
</cp:coreProperties>
</file>